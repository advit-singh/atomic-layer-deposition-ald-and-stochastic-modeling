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Inter SemiBold"/>
      <p:regular r:id="rId10"/>
      <p:bold r:id="rId11"/>
      <p:italic r:id="rId12"/>
      <p:boldItalic r:id="rId13"/>
    </p:embeddedFon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SemiBold-bold.fntdata"/><Relationship Id="rId10" Type="http://schemas.openxmlformats.org/officeDocument/2006/relationships/font" Target="fonts/InterSemiBold-regular.fntdata"/><Relationship Id="rId13" Type="http://schemas.openxmlformats.org/officeDocument/2006/relationships/font" Target="fonts/InterSemiBold-boldItalic.fntdata"/><Relationship Id="rId12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HACKERFAB DIY-ALD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1609725"/>
            <a:ext cx="5276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MODELING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227316"/>
            <a:ext cx="5276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EXECUTION RUNTIMES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541641"/>
            <a:ext cx="5276850" cy="6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Real-world hardware runtime: 13,920.0 seconds (232 min / ~4 hrs)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334125" y="1609725"/>
            <a:ext cx="5276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334125" y="4227316"/>
            <a:ext cx="5276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334125" y="4541641"/>
            <a:ext cx="52768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Chronological step-by-step state logging file (.log / .txt)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71525" y="1924050"/>
            <a:ext cx="50863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Requires physical Arduino hardware to control system valves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71525" y="2506860"/>
            <a:ext cx="5086350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Unfeasible for software-only process simulation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71525" y="2836366"/>
            <a:ext cx="50863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Tested using a custom Python script to emulate the physical valve-switching sequence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524625" y="1924050"/>
            <a:ext cx="50863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Purge time: 3,000 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524625" y="2253555"/>
            <a:ext cx="50863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Precursor pulse counts: 8, 12,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524625" y="2583060"/>
            <a:ext cx="50863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Precursor pulse times: 500 ms, 200 ms, 1,200 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524625" y="2912566"/>
            <a:ext cx="50863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Heater temperatures (4 zones): 300°C, 180°C, 120°C, 250°C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81025" y="192405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81025" y="250686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81025" y="2836366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6334125" y="192405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334125" y="225355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334125" y="258306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334125" y="2912566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5851624"/>
            <a:ext cx="11029950" cy="45333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DREAM-ALD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581025" y="1609725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MODELING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581025" y="1924050"/>
            <a:ext cx="53244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MATLAB/Octave-based analytical deposition simulator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81025" y="2856459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286500" y="1609725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EXECUTION RUNTIMES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6286500" y="3569271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FILES &amp;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581025" y="6051649"/>
            <a:ext cx="11029950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Higher temperature improves film conformality; higher gas pressure increases film penetration depth.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771525" y="3170784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Temperature: 150.0°C and 200.0°C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771525" y="3500289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Precursor pressure: 50.0 Pa and 100.0 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771525" y="3829795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Carrier gas: 50 kPa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71525" y="4159300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Cycle settings: 0.20s pulse, 2.00s purge, 500 total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771525" y="4488806"/>
            <a:ext cx="51339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Channel size: 500 µm width, 10.0 µm height, 1,000 µm length (100 points)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6477000" y="1924050"/>
            <a:ext cx="5133975" cy="6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Total run time (Wall-clock): 229.29 seconds (for 500 cycles) = ~ 4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6477000" y="2506860"/>
            <a:ext cx="5133975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computation time per cycle: ~458 milliseconds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6477000" y="3883596"/>
            <a:ext cx="5133975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Thickness profile array (Mean thickness: 0.162 nm)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6477000" y="4237124"/>
            <a:ext cx="5133975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Film conformality (97.9%) and uniformity (97.5%)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6477000" y="4593058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Channel height reduction tracking (Final height: 9.918 µm)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581025" y="3170784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581025" y="3500289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581025" y="382979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581025" y="415930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581025" y="4488806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6286500" y="192405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6286500" y="250686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6286500" y="3883596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6286500" y="4243449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6286500" y="4593058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MACHBALL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581025" y="1609725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MODELING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581025" y="1924050"/>
            <a:ext cx="53244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Python-based Monte Carlo transport simulator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581025" y="3174503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6286500" y="1609725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EXECUTION RUNTIMES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6286500" y="3429000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FILES &amp;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771525" y="3488828"/>
            <a:ext cx="51339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Wafer shapes: Via (Aspect Ratio = 100, 100 segments) and Trench (Aspect Ratio = 100, 200 segments)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771525" y="4071639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Temperature: 473 K (200°C)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771525" y="4401144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Precursor pressure: 50 Pa and 100 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771525" y="4730650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Sticking probability: 0.01 and 0.02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6477000" y="1924050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Total run time (Wall-clock): &lt; 2.0 seconds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6477000" y="2253555"/>
            <a:ext cx="5133975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Simulation steps: 98 time-steps to reach full saturation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6477000" y="3743325"/>
            <a:ext cx="51339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Surface coverage fraction array (0.0 to 1.0 along trench depth)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6477000" y="4326136"/>
            <a:ext cx="5133975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Conformality (96.54%) and uniformity (95.11%)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6477000" y="4705474"/>
            <a:ext cx="51339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Time to reach 90% bottom coverage (t90): 0.082s (at 50 Pa) vs 0.041s (at 100 Pa) (2x speedup)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581025" y="3488828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581025" y="4071639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581025" y="4401144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581025" y="473065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6286500" y="192405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6286500" y="225355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6286500" y="3743325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6286500" y="4326136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6286500" y="4705474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5457676"/>
            <a:ext cx="11029950" cy="70663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0" i="0" lang="en-US" sz="31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NVIDIA PHYSICSNEMO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581025" y="1609725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MODELING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581025" y="1924050"/>
            <a:ext cx="53244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PyTorch Fourier Neural Operator (FNO) model running on Tesla T4 GPU (15.6 GB)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581025" y="3129556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6286500" y="1609725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EXECUTION RUNTIMES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6286500" y="3917079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FILES &amp;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581025" y="5657701"/>
            <a:ext cx="11029950" cy="6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GPU-accelerated AI models can replace slow physical simulations with millisecond-level predictions while keeping high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771525" y="3443881"/>
            <a:ext cx="51339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size: Baseline FNO (5,377 parameters) and Fast FNO (1,137 parameters)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771525" y="4026692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Grid size: 64x64, 128x128, and 256x256 resolutions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771525" y="4356198"/>
            <a:ext cx="5133975" cy="307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Training settings: 20 epochs, 100 training samples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6477000" y="1924050"/>
            <a:ext cx="51339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Baseline 256x256 training time: 17.16 seconds total (1.72s per epoch)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6477000" y="2506860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Fast 64x64 training time: 0.41 seconds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6477000" y="2836366"/>
            <a:ext cx="51339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Inference time: 1.52 to 2.22 milliseconds per sample (up to 22,864 samples/second)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6477000" y="4231404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Trained model weight files (.pt / .pth formats)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6477000" y="4560909"/>
            <a:ext cx="51339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Loss progress data (94.1% reduction in training loss)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581025" y="3443881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581025" y="4026692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581025" y="4356198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6286500" y="192405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6286500" y="2506860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6286500" y="2836366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6286500" y="4231404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6286500" y="4560909"/>
            <a:ext cx="104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